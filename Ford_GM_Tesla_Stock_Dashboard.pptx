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Return %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7EC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11D4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Tesla</c:v>
                  </c:pt>
                  <c:pt idx="1">
                    <c:v>GM</c:v>
                  </c:pt>
                  <c:pt idx="2">
                    <c:v>Ford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10.98</c:v>
                </c:pt>
                <c:pt idx="1">
                  <c:v>17.08</c:v>
                </c:pt>
                <c:pt idx="2">
                  <c:v>109.27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7EC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7EC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2304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8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Ford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Jan21</c:v>
                  </c:pt>
                  <c:pt idx="1">
                    <c:v>Feb21</c:v>
                  </c:pt>
                  <c:pt idx="2">
                    <c:v>Mar21</c:v>
                  </c:pt>
                  <c:pt idx="3">
                    <c:v>Apr21</c:v>
                  </c:pt>
                  <c:pt idx="4">
                    <c:v>May21</c:v>
                  </c:pt>
                  <c:pt idx="5">
                    <c:v>Jun21</c:v>
                  </c:pt>
                  <c:pt idx="6">
                    <c:v>Jul21</c:v>
                  </c:pt>
                  <c:pt idx="7">
                    <c:v>Aug21</c:v>
                  </c:pt>
                  <c:pt idx="8">
                    <c:v>Sep21</c:v>
                  </c:pt>
                  <c:pt idx="9">
                    <c:v>Oct21</c:v>
                  </c:pt>
                  <c:pt idx="10">
                    <c:v>Nov21</c:v>
                  </c:pt>
                  <c:pt idx="11">
                    <c:v>Dec21</c:v>
                  </c:pt>
                  <c:pt idx="12">
                    <c:v>Jan22</c:v>
                  </c:pt>
                  <c:pt idx="13">
                    <c:v>Feb22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23.59</c:v>
                </c:pt>
                <c:pt idx="1">
                  <c:v>37.32</c:v>
                </c:pt>
                <c:pt idx="2">
                  <c:v>43.78</c:v>
                </c:pt>
                <c:pt idx="3">
                  <c:v>35.45</c:v>
                </c:pt>
                <c:pt idx="4">
                  <c:v>70.54</c:v>
                </c:pt>
                <c:pt idx="5">
                  <c:v>74.41</c:v>
                </c:pt>
                <c:pt idx="6">
                  <c:v>63.73</c:v>
                </c:pt>
                <c:pt idx="7">
                  <c:v>52.93</c:v>
                </c:pt>
                <c:pt idx="8">
                  <c:v>66.2</c:v>
                </c:pt>
                <c:pt idx="9">
                  <c:v>100.47</c:v>
                </c:pt>
                <c:pt idx="10">
                  <c:v>125.23</c:v>
                </c:pt>
                <c:pt idx="11">
                  <c:v>143.78</c:v>
                </c:pt>
                <c:pt idx="12">
                  <c:v>138.26</c:v>
                </c:pt>
                <c:pt idx="13">
                  <c:v>109.27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GM</c:v>
                </c:pt>
              </c:strCache>
            </c:strRef>
          </c:tx>
          <c:spPr>
            <a:solidFill>
              <a:srgbClr val="10B981"/>
            </a:solidFill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Jan21</c:v>
                  </c:pt>
                  <c:pt idx="1">
                    <c:v>Feb21</c:v>
                  </c:pt>
                  <c:pt idx="2">
                    <c:v>Mar21</c:v>
                  </c:pt>
                  <c:pt idx="3">
                    <c:v>Apr21</c:v>
                  </c:pt>
                  <c:pt idx="4">
                    <c:v>May21</c:v>
                  </c:pt>
                  <c:pt idx="5">
                    <c:v>Jun21</c:v>
                  </c:pt>
                  <c:pt idx="6">
                    <c:v>Jul21</c:v>
                  </c:pt>
                  <c:pt idx="7">
                    <c:v>Aug21</c:v>
                  </c:pt>
                  <c:pt idx="8">
                    <c:v>Sep21</c:v>
                  </c:pt>
                  <c:pt idx="9">
                    <c:v>Oct21</c:v>
                  </c:pt>
                  <c:pt idx="10">
                    <c:v>Nov21</c:v>
                  </c:pt>
                  <c:pt idx="11">
                    <c:v>Dec21</c:v>
                  </c:pt>
                  <c:pt idx="12">
                    <c:v>Jan22</c:v>
                  </c:pt>
                  <c:pt idx="13">
                    <c:v>Feb22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25.1</c:v>
                </c:pt>
                <c:pt idx="1">
                  <c:v>26.71</c:v>
                </c:pt>
                <c:pt idx="2">
                  <c:v>41.84</c:v>
                </c:pt>
                <c:pt idx="3">
                  <c:v>41.25</c:v>
                </c:pt>
                <c:pt idx="4">
                  <c:v>46.41</c:v>
                </c:pt>
                <c:pt idx="5">
                  <c:v>46.06</c:v>
                </c:pt>
                <c:pt idx="6">
                  <c:v>40.31</c:v>
                </c:pt>
                <c:pt idx="7">
                  <c:v>20.98</c:v>
                </c:pt>
                <c:pt idx="8">
                  <c:v>30.12</c:v>
                </c:pt>
                <c:pt idx="9">
                  <c:v>34.36</c:v>
                </c:pt>
                <c:pt idx="10">
                  <c:v>42.85</c:v>
                </c:pt>
                <c:pt idx="11">
                  <c:v>44.73</c:v>
                </c:pt>
                <c:pt idx="12">
                  <c:v>30.17</c:v>
                </c:pt>
                <c:pt idx="13">
                  <c:v>17.08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Tesla</c:v>
                </c:pt>
              </c:strCache>
            </c:strRef>
          </c:tx>
          <c:spPr>
            <a:solidFill>
              <a:srgbClr val="E11D48"/>
            </a:solidFill>
            <a:ln w="31750" cap="flat">
              <a:solidFill>
                <a:srgbClr val="E11D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E11D48"/>
              </a:solidFill>
              <a:ln w="9525" cap="flat">
                <a:solidFill>
                  <a:srgbClr val="E11D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Jan21</c:v>
                  </c:pt>
                  <c:pt idx="1">
                    <c:v>Feb21</c:v>
                  </c:pt>
                  <c:pt idx="2">
                    <c:v>Mar21</c:v>
                  </c:pt>
                  <c:pt idx="3">
                    <c:v>Apr21</c:v>
                  </c:pt>
                  <c:pt idx="4">
                    <c:v>May21</c:v>
                  </c:pt>
                  <c:pt idx="5">
                    <c:v>Jun21</c:v>
                  </c:pt>
                  <c:pt idx="6">
                    <c:v>Jul21</c:v>
                  </c:pt>
                  <c:pt idx="7">
                    <c:v>Aug21</c:v>
                  </c:pt>
                  <c:pt idx="8">
                    <c:v>Sep21</c:v>
                  </c:pt>
                  <c:pt idx="9">
                    <c:v>Oct21</c:v>
                  </c:pt>
                  <c:pt idx="10">
                    <c:v>Nov21</c:v>
                  </c:pt>
                  <c:pt idx="11">
                    <c:v>Dec21</c:v>
                  </c:pt>
                  <c:pt idx="12">
                    <c:v>Jan22</c:v>
                  </c:pt>
                  <c:pt idx="13">
                    <c:v>Feb22</c:v>
                  </c:pt>
                </c:lvl>
              </c:multiLvlStrCache>
            </c:multiLvl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8.74</c:v>
                </c:pt>
                <c:pt idx="1">
                  <c:v>-7.44</c:v>
                </c:pt>
                <c:pt idx="2">
                  <c:v>-8.47</c:v>
                </c:pt>
                <c:pt idx="3">
                  <c:v>-2.79</c:v>
                </c:pt>
                <c:pt idx="4">
                  <c:v>-14.33</c:v>
                </c:pt>
                <c:pt idx="5">
                  <c:v>-6.86</c:v>
                </c:pt>
                <c:pt idx="6">
                  <c:v>-5.83</c:v>
                </c:pt>
                <c:pt idx="7">
                  <c:v>0.82</c:v>
                </c:pt>
                <c:pt idx="8">
                  <c:v>6.26</c:v>
                </c:pt>
                <c:pt idx="9">
                  <c:v>52.65</c:v>
                </c:pt>
                <c:pt idx="10">
                  <c:v>56.87</c:v>
                </c:pt>
                <c:pt idx="11">
                  <c:v>44.81</c:v>
                </c:pt>
                <c:pt idx="12">
                  <c:v>28.36</c:v>
                </c:pt>
                <c:pt idx="13">
                  <c:v>10.98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621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6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1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Volatility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1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11D4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GM</c:v>
                  </c:pt>
                  <c:pt idx="1">
                    <c:v>Ford</c:v>
                  </c:pt>
                  <c:pt idx="2">
                    <c:v>Tesla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2.47</c:v>
                </c:pt>
                <c:pt idx="1">
                  <c:v>2.8</c:v>
                </c:pt>
                <c:pt idx="2">
                  <c:v>3.64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621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1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6F0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EC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FORD  vs  GM  vs  TESLA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Performance Analysis — January 2021 to February 2022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052560" y="13716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121B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0" y="1600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+109.3%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89720" y="2331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total return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best of the three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21B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0312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/ GM / Tesla Stock Performance Dashboard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5537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03120" y="4553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Data Analyst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50840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103120" y="50840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OHLCV data — return, volatility, volume, correlation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56144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103120" y="56144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price data into a clear performance verdict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393192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9272016" y="3822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104120" y="393192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0323576" y="3822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155680" y="3931920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1" name="Text 19"/>
          <p:cNvSpPr/>
          <p:nvPr/>
        </p:nvSpPr>
        <p:spPr>
          <a:xfrm>
            <a:off x="11375136" y="3822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We Looking At This Data?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16213A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182880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31546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days of daily Open/High/Low/Close/Volume for three automakers.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17720" y="155448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16213A"/>
          </a:solidFill>
          <a:ln/>
        </p:spPr>
      </p:sp>
      <p:sp>
        <p:nvSpPr>
          <p:cNvPr id="9" name="Shape 7"/>
          <p:cNvSpPr/>
          <p:nvPr/>
        </p:nvSpPr>
        <p:spPr>
          <a:xfrm>
            <a:off x="5989320" y="182880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INSIGHT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31546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return, risk, volume, and how the stocks move relative to each other.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0" y="155448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16213A"/>
          </a:solidFill>
          <a:ln/>
        </p:spPr>
      </p:sp>
      <p:sp>
        <p:nvSpPr>
          <p:cNvPr id="14" name="Shape 12"/>
          <p:cNvSpPr/>
          <p:nvPr/>
        </p:nvSpPr>
        <p:spPr>
          <a:xfrm>
            <a:off x="9784080" y="1828800"/>
            <a:ext cx="640080" cy="64008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5" name="Text 13"/>
          <p:cNvSpPr/>
          <p:nvPr/>
        </p:nvSpPr>
        <p:spPr>
          <a:xfrm>
            <a:off x="97840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4108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VERDICT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32520" y="31546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numbers into a clear read on who won, who's riskiest, and why.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61772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DECC8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7091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very different stocks — a $9 automaker, a $40 automaker, and an $800 EV maker — traded side by side over the same 14 months. Direct price comparison is meaningless; return and volatility comparison is where the real story is.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Picture: Key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621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 Analyzed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0" y="14630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6213A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600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38.2B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11880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Shares Traded (all 3)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6213A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600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Ford +109.3%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63640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Total Return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778240" y="14630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6213A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1600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2.97%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915400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Daily Volatility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3246120"/>
            <a:ext cx="10515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429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Assessment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3931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Read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97280" y="42519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stocks finished the 14-month window in positive territory — the sector as a whole was in an up-cycle, but the size of the gain varied enormously between names.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3931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Signal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9360" y="42519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Ford's +109% return on a sub-$9 starting price is the standout result and worth a deeper look at what drove it — the following slides break that down.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Leaderboard: Total Return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65836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4630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121B2E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2668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Ford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26680" y="19659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+109.3% — more than 6x GM and 10x Tesla, from a sub-$9 starting price.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498080" y="31089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121B2E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668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Steady: GM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26680" y="36118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+17.1% — a modest, low-drama gain across the period.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98080" y="47548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121B2E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6680" y="4864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Laggard: Tesla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26680" y="52578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+11.0% — positive, but the smallest gain of the three despite the highest volatility.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Element of Time: Cumulative Return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25880"/>
          <a:ext cx="10881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6235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DECC8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57150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climbs almost every month through 2021, peaking near +144% in December. Tesla spends Jan–Jun 2021 underwater (as low as −14%) before a sharp Q4 recovery. GM is the smoothest of the three but never breaks away.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Profile: Volatility &amp; Trading Range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Volatility (Std Dev of Return)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Single Trading Day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09360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78408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Day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09360" y="23042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23042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8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+11.67%  (Jan 4 '22)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784080" y="23042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-9.70%  (Feb 4 '22)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2807208"/>
            <a:ext cx="539496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28712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863840" y="287121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8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+9.75%  (Jan 19 '21)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784080" y="287121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-8.91%  (Aug 4 '21)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09360" y="3374136"/>
            <a:ext cx="539496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34381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863840" y="34381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8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+19.64%  (Mar 9 '21)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784080" y="34381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-11.99%  (Nov 9 '21)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09360" y="3941064"/>
            <a:ext cx="539496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09360" y="416052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4297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is the highest-risk stock of the three: highest volatility (3.64%), the single best day (+19.6%), and the single worst day (−12.0%). Holding it means larger swings in both directions.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These Stocks Move Together?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daily returns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21B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377440" y="164592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21B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6459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931920" y="164592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21B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6459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0" y="164592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21B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6459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235915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21B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5915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77440" y="235915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E2E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35915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31920" y="235915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21B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235915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0" y="235915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21B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35915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3072384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21B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07238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377440" y="3072384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21B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307238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931920" y="3072384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E2E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307238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0" y="3072384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21B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307238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" y="3785616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21B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785616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377440" y="3785616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21B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3785616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931920" y="3785616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21B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3785616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0" y="3785616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E2E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3785616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406640" y="164592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121B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Read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68096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↔ GM: 0.76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680960" y="2697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correlated — same sector, same macro drivers. Owning both barely reduces risk.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68096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↔ either: 0.22 – 0.25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68096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Weakly correlated — Tesla behaves like a separate, tech-driven asset rather than a third automaker.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680960" y="4709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pairing Tesla with a legacy automaker gives more real diversification than holding two legacy automakers together.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Verdict: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Synthesizing return, risk, volume, and correlation into a clear read on all three stocks.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9476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Led on Return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EV-transition story (Mach-E, F-150 Lightning) drove +109.3% — the standout result of the three, from the lowest starting price.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965960"/>
            <a:ext cx="365760" cy="3657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9476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Carries the Most Risk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volatility, and both the single best and single worst day of the group. Expect the biggest swings holding 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2519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42336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+ GM Isn't Diversified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 correlation means they largely rise and fall together — pairing either with Tesla spreads risk further.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97764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4251960"/>
            <a:ext cx="365760" cy="36576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42336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Was the Steady Hand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475488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volatility, smoothest trend, modest but consistent gain — the lower-risk pick of the three.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2026-08-11T06:42:49Z</dcterms:created>
  <dcterms:modified xsi:type="dcterms:W3CDTF">2026-08-11T06:42:49Z</dcterms:modified>
</cp:coreProperties>
</file>